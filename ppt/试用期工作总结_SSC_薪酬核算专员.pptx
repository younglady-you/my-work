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000">
                <a:solidFill>
                  <a:srgbClr val="1F4E79"/>
                </a:solidFill>
                <a:latin typeface="Microsoft YaHei"/>
              </a:defRPr>
            </a:pPr>
            <a:r>
              <a:t>试用期工作总结 — SSC 薪酬核算专员 (内容与版式)</a:t>
            </a:r>
          </a:p>
        </p:txBody>
      </p:sp>
      <p:sp>
        <p:nvSpPr>
          <p:cNvPr id="3" name="Subtitle 2"/>
          <p:cNvSpPr>
            <a:spLocks noGrp="1"/>
          </p:cNvSpPr>
          <p:nvPr>
            <p:ph type="subTitle" idx="1"/>
          </p:nvPr>
        </p:nvSpPr>
        <p:spPr/>
        <p:txBody>
          <a:bodyPr/>
          <a:lstStyle/>
          <a:p>
            <a:pPr>
              <a:defRPr sz="1400">
                <a:latin typeface="Microsoft YaHei"/>
              </a:defRPr>
            </a:pPr>
            <a:r>
              <a:t>说明：此文件为自动生成的可复制版 PPT 内容（文本版），包含第1-10页的正文与讲稿要点。请在本地 PowerPoint 中按照既定样式（深蓝主色 #1F4E79，辅色橙 #F4A261，字体 微软雅黑/思源黑体）排版并替换公司 Logo。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1 封面</a:t>
            </a:r>
          </a:p>
        </p:txBody>
      </p:sp>
      <p:sp>
        <p:nvSpPr>
          <p:cNvPr id="3" name="Content Placeholder 2"/>
          <p:cNvSpPr>
            <a:spLocks noGrp="1"/>
          </p:cNvSpPr>
          <p:nvPr>
            <p:ph idx="1"/>
          </p:nvPr>
        </p:nvSpPr>
        <p:spPr/>
        <p:txBody>
          <a:bodyPr/>
          <a:lstStyle/>
          <a:p>
            <a:pPr>
              <a:defRPr sz="1400">
                <a:latin typeface="Microsoft YaHei"/>
              </a:defRPr>
            </a:pPr>
            <a:r>
              <a:t>标题：试用期工作总结</a:t>
            </a:r>
          </a:p>
          <a:p>
            <a:pPr>
              <a:defRPr sz="1400">
                <a:latin typeface="Microsoft YaHei"/>
              </a:defRPr>
            </a:pPr>
            <a:r>
              <a:t>副标题：SSC 薪酬核算专员（试用期：2026-04-14 至 2026-07-13）</a:t>
            </a:r>
          </a:p>
          <a:p>
            <a:pPr>
              <a:defRPr sz="1400">
                <a:latin typeface="Microsoft YaHei"/>
              </a:defRPr>
            </a:pPr>
            <a:r>
              <a:t>占位：汇报人：______  汇报对象：______  日期：______</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2 目录</a:t>
            </a:r>
          </a:p>
        </p:txBody>
      </p:sp>
      <p:sp>
        <p:nvSpPr>
          <p:cNvPr id="3" name="Content Placeholder 2"/>
          <p:cNvSpPr>
            <a:spLocks noGrp="1"/>
          </p:cNvSpPr>
          <p:nvPr>
            <p:ph idx="1"/>
          </p:nvPr>
        </p:nvSpPr>
        <p:spPr/>
        <p:txBody>
          <a:bodyPr/>
          <a:lstStyle/>
          <a:p>
            <a:pPr>
              <a:defRPr sz="1400">
                <a:latin typeface="Microsoft YaHei"/>
              </a:defRPr>
            </a:pPr>
            <a:r>
              <a:t>1. 试用期目标与岗位期望</a:t>
            </a:r>
          </a:p>
          <a:p>
            <a:pPr>
              <a:defRPr sz="1400">
                <a:latin typeface="Microsoft YaHei"/>
              </a:defRPr>
            </a:pPr>
            <a:r>
              <a:t>2. 工作内容与职责概览</a:t>
            </a:r>
          </a:p>
          <a:p>
            <a:pPr>
              <a:defRPr sz="1400">
                <a:latin typeface="Microsoft YaHei"/>
              </a:defRPr>
            </a:pPr>
            <a:r>
              <a:t>3. 主要工作成果</a:t>
            </a:r>
          </a:p>
          <a:p>
            <a:pPr>
              <a:defRPr sz="1400">
                <a:latin typeface="Microsoft YaHei"/>
              </a:defRPr>
            </a:pPr>
            <a:r>
              <a:t>4. 亮点</a:t>
            </a:r>
          </a:p>
          <a:p>
            <a:pPr>
              <a:defRPr sz="1400">
                <a:latin typeface="Microsoft YaHei"/>
              </a:defRPr>
            </a:pPr>
            <a:r>
              <a:t>5. 暗点/不足</a:t>
            </a:r>
          </a:p>
          <a:p>
            <a:pPr>
              <a:defRPr sz="1400">
                <a:latin typeface="Microsoft YaHei"/>
              </a:defRPr>
            </a:pPr>
            <a:r>
              <a:t>6. 典型案例回顾</a:t>
            </a:r>
          </a:p>
          <a:p>
            <a:pPr>
              <a:defRPr sz="1400">
                <a:latin typeface="Microsoft YaHei"/>
              </a:defRPr>
            </a:pPr>
            <a:r>
              <a:t>7. 工作反思与短期改进计划</a:t>
            </a:r>
          </a:p>
          <a:p>
            <a:pPr>
              <a:defRPr sz="1400">
                <a:latin typeface="Microsoft YaHei"/>
              </a:defRPr>
            </a:pPr>
            <a:r>
              <a:t>8. 职业规划与能力提升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3 试用期目标与岗位期望</a:t>
            </a:r>
          </a:p>
        </p:txBody>
      </p:sp>
      <p:sp>
        <p:nvSpPr>
          <p:cNvPr id="3" name="Content Placeholder 2"/>
          <p:cNvSpPr>
            <a:spLocks noGrp="1"/>
          </p:cNvSpPr>
          <p:nvPr>
            <p:ph idx="1"/>
          </p:nvPr>
        </p:nvSpPr>
        <p:spPr/>
        <p:txBody>
          <a:bodyPr/>
          <a:lstStyle/>
          <a:p>
            <a:pPr>
              <a:defRPr sz="1400">
                <a:latin typeface="Microsoft YaHei"/>
              </a:defRPr>
            </a:pPr>
            <a:r>
              <a:t>正文：入职期望：独立完成两个部门薪酬核算与发放；经济补偿金与竞业补偿金测算并发放（含报税）；双薪/年终奖计提；人力成本测算；个税申报。衡量标准：按时率、数据准确性与合规性。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4 工作内容与岗位职责概览</a:t>
            </a:r>
          </a:p>
        </p:txBody>
      </p:sp>
      <p:sp>
        <p:nvSpPr>
          <p:cNvPr id="3" name="Content Placeholder 2"/>
          <p:cNvSpPr>
            <a:spLocks noGrp="1"/>
          </p:cNvSpPr>
          <p:nvPr>
            <p:ph idx="1"/>
          </p:nvPr>
        </p:nvSpPr>
        <p:spPr/>
        <p:txBody>
          <a:bodyPr/>
          <a:lstStyle/>
          <a:p>
            <a:pPr>
              <a:defRPr sz="1400">
                <a:latin typeface="Microsoft YaHei"/>
              </a:defRPr>
            </a:pPr>
            <a:r>
              <a:t>流程：收集与核验材料 → 核算与计提（补偿/年终奖）→ 编制/维护底稿与汇总 → 复核与提单发放 → 协助个税申报与人力成本汇总。</a:t>
            </a:r>
          </a:p>
          <a:p>
            <a:pPr>
              <a:defRPr sz="1400">
                <a:latin typeface="Microsoft YaHei"/>
              </a:defRPr>
            </a:pPr>
            <a:r>
              <a:t>对接：HRBP、财务、审批人、代发银行。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5 主要工作成果</a:t>
            </a:r>
          </a:p>
        </p:txBody>
      </p:sp>
      <p:sp>
        <p:nvSpPr>
          <p:cNvPr id="3" name="Content Placeholder 2"/>
          <p:cNvSpPr>
            <a:spLocks noGrp="1"/>
          </p:cNvSpPr>
          <p:nvPr>
            <p:ph idx="1"/>
          </p:nvPr>
        </p:nvSpPr>
        <p:spPr/>
        <p:txBody>
          <a:bodyPr/>
          <a:lstStyle/>
          <a:p>
            <a:pPr>
              <a:defRPr sz="1400">
                <a:latin typeface="Microsoft YaHei"/>
              </a:defRPr>
            </a:pPr>
            <a:r>
              <a:t>试用期核心完成事项：</a:t>
            </a:r>
          </a:p>
          <a:p>
            <a:pPr>
              <a:defRPr sz="1400">
                <a:latin typeface="Microsoft YaHei"/>
              </a:defRPr>
            </a:pPr>
            <a:r>
              <a:t>已完成 A 部门 4 月、5 月薪酬核算与发放；</a:t>
            </a:r>
          </a:p>
          <a:p>
            <a:pPr>
              <a:defRPr sz="1400">
                <a:latin typeface="Microsoft YaHei"/>
              </a:defRPr>
            </a:pPr>
            <a:r>
              <a:t>已完成 B 部门月度薪酬核算与发放；</a:t>
            </a:r>
          </a:p>
          <a:p>
            <a:pPr>
              <a:defRPr sz="1400">
                <a:latin typeface="Microsoft YaHei"/>
              </a:defRPr>
            </a:pPr>
            <a:r>
              <a:t>已完成经济补偿金、竞业补偿金发放并完成报税工作；A 部门双薪年终奖计提、下月薪酬预提，人力成本测算。</a:t>
            </a:r>
          </a:p>
          <a:p>
            <a:pPr>
              <a:defRPr sz="1400">
                <a:solidFill>
                  <a:srgbClr val="F4A261"/>
                </a:solidFill>
                <a:latin typeface="Microsoft YaHei"/>
              </a:defRPr>
            </a:pPr>
            <a:r>
              <a:t>重要成果体现：发放无延迟（发放及时率 100%）；B 部门在 25 号中午收齐材料，在 26 号中午即顺利提单发放，从材料收集到提单流程的及时闭环。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6 亮点（关键优势）</a:t>
            </a:r>
          </a:p>
        </p:txBody>
      </p:sp>
      <p:sp>
        <p:nvSpPr>
          <p:cNvPr id="3" name="Content Placeholder 2"/>
          <p:cNvSpPr>
            <a:spLocks noGrp="1"/>
          </p:cNvSpPr>
          <p:nvPr>
            <p:ph idx="1"/>
          </p:nvPr>
        </p:nvSpPr>
        <p:spPr/>
        <p:txBody>
          <a:bodyPr/>
          <a:lstStyle/>
          <a:p>
            <a:pPr>
              <a:defRPr sz="1400">
                <a:latin typeface="Microsoft YaHei"/>
              </a:defRPr>
            </a:pPr>
            <a:r>
              <a:t>1) 底稿公式优化 — A 部门底稿重构，后续可直接下拉公式，减少人工特殊处理；</a:t>
            </a:r>
          </a:p>
          <a:p>
            <a:pPr>
              <a:defRPr sz="1400">
                <a:latin typeface="Microsoft YaHei"/>
              </a:defRPr>
            </a:pPr>
            <a:r>
              <a:t>2) 日结清单机制 — 日结清单实时呈现已收/未收/缺项/特殊待处理，帮助定位卡点并针对性催办，使平均提报时间提前约 1 个工作日（清单不直接改变业务出件速度，但能更早发现问题）；</a:t>
            </a:r>
          </a:p>
          <a:p>
            <a:pPr>
              <a:defRPr sz="1400">
                <a:latin typeface="Microsoft YaHei"/>
              </a:defRPr>
            </a:pPr>
            <a:r>
              <a:t>3) B 部门提交进度分析 — 通过数据对比识别关键节点并减少紧急核算次数，降低错误与返工风险。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7 暗点 / 不足</a:t>
            </a:r>
          </a:p>
        </p:txBody>
      </p:sp>
      <p:sp>
        <p:nvSpPr>
          <p:cNvPr id="3" name="Content Placeholder 2"/>
          <p:cNvSpPr>
            <a:spLocks noGrp="1"/>
          </p:cNvSpPr>
          <p:nvPr>
            <p:ph idx="1"/>
          </p:nvPr>
        </p:nvSpPr>
        <p:spPr/>
        <p:txBody>
          <a:bodyPr/>
          <a:lstStyle/>
          <a:p>
            <a:pPr>
              <a:defRPr sz="1400">
                <a:latin typeface="Microsoft YaHei"/>
              </a:defRPr>
            </a:pPr>
            <a:r>
              <a:t>细小错误（个税表遗漏已离职/竞业补偿人员）；</a:t>
            </a:r>
          </a:p>
          <a:p>
            <a:pPr>
              <a:defRPr sz="1400">
                <a:latin typeface="Microsoft YaHei"/>
              </a:defRPr>
            </a:pPr>
            <a:r>
              <a:t>汇总时遗漏残疾人成本等特殊项；</a:t>
            </a:r>
          </a:p>
          <a:p>
            <a:pPr>
              <a:defRPr sz="1400">
                <a:latin typeface="Microsoft YaHei"/>
              </a:defRPr>
            </a:pPr>
            <a:r>
              <a:t>根因：边缘规则未固化进模板/复核清单；复核流程未覆盖边缘场景。</a:t>
            </a:r>
          </a:p>
          <a:p>
            <a:pPr>
              <a:defRPr sz="1400">
                <a:latin typeface="Microsoft YaHei"/>
              </a:defRPr>
            </a:pPr>
            <a:r>
              <a:t>影响：返工、延误、增加对账成本。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8 典型案例回顾（残疾人员工成本漏算）</a:t>
            </a:r>
          </a:p>
        </p:txBody>
      </p:sp>
      <p:sp>
        <p:nvSpPr>
          <p:cNvPr id="3" name="Content Placeholder 2"/>
          <p:cNvSpPr>
            <a:spLocks noGrp="1"/>
          </p:cNvSpPr>
          <p:nvPr>
            <p:ph idx="1"/>
          </p:nvPr>
        </p:nvSpPr>
        <p:spPr/>
        <p:txBody>
          <a:bodyPr/>
          <a:lstStyle/>
          <a:p>
            <a:pPr>
              <a:defRPr sz="1400">
                <a:latin typeface="Microsoft YaHei"/>
              </a:defRPr>
            </a:pPr>
            <a:r>
              <a:t>案例背景：工厂有部分残疾员工，其薪资由“基本薪资 + 社保部分”组成。由于 SAP 导出明细中，残疾员工在明细表上并不按常规显示“正常工作时间薪资”口径，导致基于明细直接汇总“应发基本工资”时出现缺项并导致金额有误，但员工“实发金额”在明细表中显示是正确的。</a:t>
            </a:r>
          </a:p>
          <a:p>
            <a:pPr>
              <a:defRPr sz="1400">
                <a:latin typeface="Microsoft YaHei"/>
              </a:defRPr>
            </a:pPr>
            <a:r>
              <a:t>事件经过：5 月薪资第一次提单时，实发金额核对正确并提单；组长在复核时发现应发口径未被正确汇总并及时通知我修改，我随后重新生成并提交修正后的汇总表，完成补正。该笔薪酬处理比其他条目慢约 2 小时。</a:t>
            </a:r>
          </a:p>
          <a:p>
            <a:pPr>
              <a:defRPr sz="1400">
                <a:latin typeface="Microsoft YaHei"/>
              </a:defRPr>
            </a:pPr>
            <a:r>
              <a:t>影响：虽未导致员工实发错误，但产生返工并增加对账与处理成本；若未及时发现而流至财务端，可能在月末对账时引发更严重的对账差异问题。</a:t>
            </a:r>
          </a:p>
          <a:p>
            <a:pPr>
              <a:defRPr sz="1400">
                <a:latin typeface="Microsoft YaHei"/>
              </a:defRPr>
            </a:pPr>
            <a:r>
              <a:t>即时补救：重生成汇总表并完成补正；将该类易错点在个人工作文档中标红并作临时提醒。</a:t>
            </a:r>
          </a:p>
          <a:p>
            <a:pPr>
              <a:defRPr sz="1400">
                <a:latin typeface="Microsoft YaHei"/>
              </a:defRPr>
            </a:pPr>
            <a:r>
              <a:t>建议预防：在核算前检查清单中新增“特殊身份人员（残疾/离职/竞业）应发 vs 实发”逐项核对；在汇总模板或导出后脚本中加入对残疾人员的自动处理逻辑或异常提示；与系统支持团队沟通评估导出口径优化。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9 工作反思与短期改进计划（1–3 个月）</a:t>
            </a:r>
          </a:p>
        </p:txBody>
      </p:sp>
      <p:sp>
        <p:nvSpPr>
          <p:cNvPr id="3" name="Content Placeholder 2"/>
          <p:cNvSpPr>
            <a:spLocks noGrp="1"/>
          </p:cNvSpPr>
          <p:nvPr>
            <p:ph idx="1"/>
          </p:nvPr>
        </p:nvSpPr>
        <p:spPr/>
        <p:txBody>
          <a:bodyPr/>
          <a:lstStyle/>
          <a:p>
            <a:pPr>
              <a:defRPr sz="1400">
                <a:latin typeface="Microsoft YaHei"/>
              </a:defRPr>
            </a:pPr>
            <a:r>
              <a:t>反思要点：多数遗漏源于边缘规则未固化进复核清单与模板；流程缺乏自动化校验，依赖人工识别。</a:t>
            </a:r>
          </a:p>
          <a:p>
            <a:pPr>
              <a:defRPr sz="1400">
                <a:latin typeface="Microsoft YaHei"/>
              </a:defRPr>
            </a:pPr>
            <a:r>
              <a:t>动作项：</a:t>
            </a:r>
          </a:p>
          <a:p>
            <a:pPr>
              <a:defRPr sz="1400">
                <a:latin typeface="Microsoft YaHei"/>
              </a:defRPr>
            </a:pPr>
            <a:r>
              <a:t>建立并强制执行核算前检查清单（包含特殊人员与应发 vs 实发核验，核算前逐项打勾）</a:t>
            </a:r>
          </a:p>
          <a:p>
            <a:pPr>
              <a:defRPr sz="1400">
                <a:latin typeface="Microsoft YaHei"/>
              </a:defRPr>
            </a:pPr>
            <a:r>
              <a:t>将日结清单升级为共享协作文档，与 HRBP/业务方同步，并引入历史到库对比设定触发阈值（例如常在 10 号到的材料，11 号未到则触发跟进）</a:t>
            </a:r>
          </a:p>
          <a:p>
            <a:pPr>
              <a:defRPr sz="1400">
                <a:latin typeface="Microsoft YaHei"/>
              </a:defRPr>
            </a:pPr>
            <a:r>
              <a:t>在汇总环节引入自动化脚本（VBA 或 Power Query）预处理 SAP 导出差异</a:t>
            </a:r>
          </a:p>
          <a:p>
            <a:pPr>
              <a:defRPr sz="1400">
                <a:latin typeface="Microsoft YaHei"/>
              </a:defRPr>
            </a:pPr>
            <a:r>
              <a:t>每月一次案例复盘并归档 FAQ 库</a:t>
            </a:r>
          </a:p>
          <a:p>
            <a:pPr>
              <a:defRPr sz="1400">
                <a:solidFill>
                  <a:srgbClr val="F4A261"/>
                </a:solidFill>
                <a:latin typeface="Microsoft YaHei"/>
              </a:defRPr>
            </a:pPr>
            <a:r>
              <a:t>量化目标：错误率 ≤ 2%；材料准时率 99%；预计平均提报提前 0.5–1 个工作日（试点结果确认）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solidFill>
                  <a:srgbClr val="1F4E79"/>
                </a:solidFill>
                <a:latin typeface="Microsoft YaHei"/>
              </a:defRPr>
            </a:pPr>
            <a:r>
              <a:t>10 职业规划与个人能力提升（1 年 / 3 年）</a:t>
            </a:r>
          </a:p>
        </p:txBody>
      </p:sp>
      <p:sp>
        <p:nvSpPr>
          <p:cNvPr id="3" name="Content Placeholder 2"/>
          <p:cNvSpPr>
            <a:spLocks noGrp="1"/>
          </p:cNvSpPr>
          <p:nvPr>
            <p:ph idx="1"/>
          </p:nvPr>
        </p:nvSpPr>
        <p:spPr/>
        <p:txBody>
          <a:bodyPr/>
          <a:lstStyle/>
          <a:p>
            <a:pPr>
              <a:defRPr sz="1400">
                <a:latin typeface="Microsoft YaHei"/>
              </a:defRPr>
            </a:pPr>
            <a:r>
              <a:t>职业目标：</a:t>
            </a:r>
          </a:p>
          <a:p>
            <a:pPr>
              <a:defRPr sz="1400">
                <a:latin typeface="Microsoft YaHei"/>
              </a:defRPr>
            </a:pPr>
            <a:r>
              <a:t>1 年：熟练掌握全部核算流程，能独立处理薪酬核算与数据交付中的各类特殊 case</a:t>
            </a:r>
          </a:p>
          <a:p>
            <a:pPr>
              <a:defRPr sz="1400">
                <a:latin typeface="Microsoft YaHei"/>
              </a:defRPr>
            </a:pPr>
            <a:r>
              <a:t>3 年：协助或独立承接薪酬核算流程优化项目，向流程改造/分析方向发展</a:t>
            </a:r>
          </a:p>
          <a:p>
            <a:pPr>
              <a:defRPr sz="1400">
                <a:latin typeface="Microsoft YaHei"/>
              </a:defRPr>
            </a:pPr>
            <a:r>
              <a:t>学习计划：VBA、Power Query/Power BI、AI 工具；高级 Excel；深入个税与补偿类法规</a:t>
            </a:r>
          </a:p>
          <a:p>
            <a:pPr>
              <a:defRPr sz="1400">
                <a:solidFill>
                  <a:srgbClr val="F4A261"/>
                </a:solidFill>
                <a:latin typeface="Microsoft YaHei"/>
              </a:defRPr>
            </a:pPr>
            <a:r>
              <a:t>里程碑：3 个月脚本成型 → 6 个月材料进度面板试点 → 12 个月 FAQ 库与错误率≤2%</a:t>
            </a:r>
          </a:p>
          <a:p>
            <a:pPr>
              <a:defRPr sz="1400">
                <a:latin typeface="Microsoft YaHei"/>
              </a:defRPr>
            </a:pPr>
            <a:r>
              <a:t>备注：后续可由你替换公司 Logo 与填写封面姓名/部门/日期。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